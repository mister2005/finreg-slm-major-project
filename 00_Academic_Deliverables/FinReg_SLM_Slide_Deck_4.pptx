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005840"/>
            <a:ext cx="3840480" cy="36576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38BDF8"/>
                </a:solidFill>
              </a:defRPr>
            </a:pPr>
            <a:r>
              <a:t>RESEARCH ECOSYSTEM — TUTORIAL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8FAFC"/>
                </a:solidFill>
              </a:defRPr>
            </a:pPr>
            <a:r>
              <a:t>FinReg-SLM: Omni-Regulator AI</a:t>
            </a:r>
          </a:p>
          <a:p>
            <a:pPr>
              <a:spcBef>
                <a:spcPts val="1000"/>
              </a:spcBef>
              <a:defRPr sz="1600">
                <a:solidFill>
                  <a:srgbClr val="38BDF8"/>
                </a:solidFill>
              </a:defRPr>
            </a:pPr>
            <a:r>
              <a:t>A Two-Stage Aligned Reasoning Small Language Model (SFT + DPO) with Version-Aware Hybrid Retrieval for Multi-Agency Indian Financial Compliance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931920"/>
            <a:ext cx="1069848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34D399"/>
                </a:solidFill>
              </a:defRPr>
            </a:pPr>
            <a:r>
              <a:t>Project Team &amp; Academic Details:</a:t>
            </a:r>
          </a:p>
          <a:p>
            <a:pPr>
              <a:spcBef>
                <a:spcPts val="300"/>
              </a:spcBef>
              <a:defRPr sz="1000">
                <a:solidFill>
                  <a:srgbClr val="F8FAFC"/>
                </a:solidFill>
              </a:defRPr>
            </a:pPr>
            <a:r>
              <a:t>• Student Name: Varun Gupta | SAP ID: 60004220055 | UID: 2022300055</a:t>
            </a:r>
          </a:p>
          <a:p>
            <a:pPr>
              <a:spcBef>
                <a:spcPts val="300"/>
              </a:spcBef>
              <a:defRPr sz="1000">
                <a:solidFill>
                  <a:srgbClr val="F8FAFC"/>
                </a:solidFill>
              </a:defRPr>
            </a:pPr>
            <a:r>
              <a:t>• Program: Final Year B.Tech. in Artificial Intelligence &amp; Data Science (Sem VII, AY 2026–27)</a:t>
            </a:r>
          </a:p>
          <a:p>
            <a:pPr>
              <a:spcBef>
                <a:spcPts val="300"/>
              </a:spcBef>
              <a:defRPr sz="1000">
                <a:solidFill>
                  <a:srgbClr val="F8FAFC"/>
                </a:solidFill>
              </a:defRPr>
            </a:pPr>
            <a:r>
              <a:t>• Course: Research Ecosystem (DJS23ITELX12) | Department of AI &amp; DS</a:t>
            </a:r>
          </a:p>
          <a:p>
            <a:pPr>
              <a:spcBef>
                <a:spcPts val="300"/>
              </a:spcBef>
              <a:defRPr sz="1000">
                <a:solidFill>
                  <a:srgbClr val="F8FAFC"/>
                </a:solidFill>
              </a:defRPr>
            </a:pPr>
            <a:r>
              <a:t>• Institution: SVKM's NMIMS, Mukesh Patel School of Technology Management &amp; Engineering (MPSTME)</a:t>
            </a:r>
          </a:p>
          <a:p>
            <a:pPr>
              <a:spcBef>
                <a:spcPts val="300"/>
              </a:spcBef>
              <a:defRPr sz="1000">
                <a:solidFill>
                  <a:srgbClr val="F8FAFC"/>
                </a:solidFill>
              </a:defRPr>
            </a:pPr>
            <a:r>
              <a:t>• Evaluation Benchmark: G7 Hard Suite (300 Queries) + IndiaFinBench (arXiv:2604.19298 — 324 Questions)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CONTEXT, COMPLIANCE STAKES &amp; TECHNICAL CHALLENGES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Problem Definition &amp; Motivation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383280" cy="48463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1. Multi-Agency Complexity</a:t>
            </a:r>
          </a:p>
          <a:p>
            <a:pPr>
              <a:spcBef>
                <a:spcPts val="800"/>
              </a:spcBef>
              <a:defRPr sz="1000">
                <a:solidFill>
                  <a:srgbClr val="F8FAFC"/>
                </a:solidFill>
              </a:defRPr>
            </a:pPr>
            <a:r>
              <a:t>• 13 Statutory Authorities: RBI, SEBI, MCA, CBIC, CBDT, IBBI, EPFO, ESIC, IRDAI, PFRDA, MeitY, FIU-IND, IFSCA.</a:t>
            </a:r>
          </a:p>
          <a:p>
            <a:pPr>
              <a:spcBef>
                <a:spcPts val="800"/>
              </a:spcBef>
              <a:defRPr sz="1000">
                <a:solidFill>
                  <a:srgbClr val="F8FAFC"/>
                </a:solidFill>
              </a:defRPr>
            </a:pPr>
            <a:r>
              <a:t>• Over 18,242 circulars &amp; 25 Acts creating overlapping, cross-jurisdictional mandates.</a:t>
            </a:r>
          </a:p>
          <a:p>
            <a:pPr>
              <a:spcBef>
                <a:spcPts val="800"/>
              </a:spcBef>
              <a:defRPr sz="1000">
                <a:solidFill>
                  <a:srgbClr val="F8FAFC"/>
                </a:solidFill>
              </a:defRPr>
            </a:pPr>
            <a:r>
              <a:t>• Non-compliance results in heavy financial penalties, compounding interest, and statutory license cancellation.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371600"/>
            <a:ext cx="3383280" cy="48463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BBF24"/>
                </a:solidFill>
              </a:defRPr>
            </a:pPr>
            <a:r>
              <a:t>2. Temporal Obsolescence</a:t>
            </a:r>
          </a:p>
          <a:p>
            <a:pPr>
              <a:spcBef>
                <a:spcPts val="800"/>
              </a:spcBef>
              <a:defRPr sz="1000">
                <a:solidFill>
                  <a:srgbClr val="F8FAFC"/>
                </a:solidFill>
              </a:defRPr>
            </a:pPr>
            <a:r>
              <a:t>• Frequent, non-linear regulatory amendments supersede prior statutory clauses.</a:t>
            </a:r>
          </a:p>
          <a:p>
            <a:pPr>
              <a:spcBef>
                <a:spcPts val="800"/>
              </a:spcBef>
              <a:defRPr sz="1000">
                <a:solidFill>
                  <a:srgbClr val="F8FAFC"/>
                </a:solidFill>
              </a:defRPr>
            </a:pPr>
            <a:r>
              <a:t>• Standard semantic search retrieves older, high-similarity text, presenting obsolete clauses as active law.</a:t>
            </a:r>
          </a:p>
          <a:p>
            <a:pPr>
              <a:spcBef>
                <a:spcPts val="800"/>
              </a:spcBef>
              <a:defRPr sz="1000">
                <a:solidFill>
                  <a:srgbClr val="F8FAFC"/>
                </a:solidFill>
              </a:defRPr>
            </a:pPr>
            <a:r>
              <a:t>• Requires explicit version-aware temporal filtering (`as_of_date` vs `effective_date`).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371600"/>
            <a:ext cx="3383280" cy="48463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34D399"/>
                </a:solidFill>
              </a:defRPr>
            </a:pPr>
            <a:r>
              <a:t>3. On-Premises Privacy</a:t>
            </a:r>
          </a:p>
          <a:p>
            <a:pPr>
              <a:spcBef>
                <a:spcPts val="800"/>
              </a:spcBef>
              <a:defRPr sz="1000">
                <a:solidFill>
                  <a:srgbClr val="F8FAFC"/>
                </a:solidFill>
              </a:defRPr>
            </a:pPr>
            <a:r>
              <a:t>• India's DPDP Act 2023 restricts sending internal banking logs or financial records to offshore cloud APIs.</a:t>
            </a:r>
          </a:p>
          <a:p>
            <a:pPr>
              <a:spcBef>
                <a:spcPts val="800"/>
              </a:spcBef>
              <a:defRPr sz="1000">
                <a:solidFill>
                  <a:srgbClr val="F8FAFC"/>
                </a:solidFill>
              </a:defRPr>
            </a:pPr>
            <a:r>
              <a:t>• Commercial cloud LLMs (GPT-4o, Claude) introduce severe compliance liability and recurring API overhead.</a:t>
            </a:r>
          </a:p>
          <a:p>
            <a:pPr>
              <a:spcBef>
                <a:spcPts val="800"/>
              </a:spcBef>
              <a:defRPr sz="1000">
                <a:solidFill>
                  <a:srgbClr val="F8FAFC"/>
                </a:solidFill>
              </a:defRPr>
            </a:pPr>
            <a:r>
              <a:t>• Demand for localized 7B Small Language Models running on consumer hardware (8GB VRAM) with zero data leakage.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REPRESENTATIVE PAPERS ACROSS THE 6 SYNTHESIS DIMENSIONS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Literature Review Matrix (Scopus &amp; IEEE Index)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280160"/>
          <a:ext cx="10728655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645920"/>
                <a:gridCol w="2011680"/>
                <a:gridCol w="2560320"/>
                <a:gridCol w="2499055"/>
              </a:tblGrid>
              <a:tr h="70539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8FAFC"/>
                          </a:solidFill>
                        </a:defRPr>
                      </a:pPr>
                      <a:r>
                        <a:t>Authors &amp; Year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8FAFC"/>
                          </a:solidFill>
                        </a:defRPr>
                      </a:pPr>
                      <a:r>
                        <a:t>Venue / Journal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8FAFC"/>
                          </a:solidFill>
                        </a:defRPr>
                      </a:pPr>
                      <a:r>
                        <a:t>Method / Model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8FAFC"/>
                          </a:solidFill>
                        </a:defRPr>
                      </a:pPr>
                      <a:r>
                        <a:t>Key Findings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8FAFC"/>
                          </a:solidFill>
                        </a:defRPr>
                      </a:pPr>
                      <a:r>
                        <a:t>Identified Research Gap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8FAFC"/>
                          </a:solidFill>
                        </a:defRPr>
                      </a:pPr>
                      <a:r>
                        <a:t>Ovadia et al. (2024)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8FAFC"/>
                          </a:solidFill>
                        </a:defRPr>
                      </a:pPr>
                      <a:r>
                        <a:t>EMNLP 2024 (Main)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8FAFC"/>
                          </a:solidFill>
                        </a:defRPr>
                      </a:pPr>
                      <a:r>
                        <a:t>RAG vs Fine-Tuning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8FAFC"/>
                          </a:solidFill>
                        </a:defRPr>
                      </a:pPr>
                      <a:r>
                        <a:t>RAG outperforms FT for knowledge injection; FT suffers from Reversal Curse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8FAFC"/>
                          </a:solidFill>
                        </a:defRPr>
                      </a:pPr>
                      <a:r>
                        <a:t>Did not test hybrid CoT reasoning on dense statutory law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8FAFC"/>
                          </a:solidFill>
                        </a:defRPr>
                      </a:pPr>
                      <a:r>
                        <a:t>Magesh et al. (2025)</a:t>
                      </a:r>
                    </a:p>
                  </a:txBody>
                  <a:tcPr>
                    <a:solidFill>
                      <a:srgbClr val="1821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8FAFC"/>
                          </a:solidFill>
                        </a:defRPr>
                      </a:pPr>
                      <a:r>
                        <a:t>J. Empir. Leg. Stud.</a:t>
                      </a:r>
                    </a:p>
                  </a:txBody>
                  <a:tcPr>
                    <a:solidFill>
                      <a:srgbClr val="1821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8FAFC"/>
                          </a:solidFill>
                        </a:defRPr>
                      </a:pPr>
                      <a:r>
                        <a:t>Legal RAG Audit</a:t>
                      </a:r>
                    </a:p>
                  </a:txBody>
                  <a:tcPr>
                    <a:solidFill>
                      <a:srgbClr val="1821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8FAFC"/>
                          </a:solidFill>
                        </a:defRPr>
                      </a:pPr>
                      <a:r>
                        <a:t>Commercial legal AI tools have 17%-33% hallucination rates</a:t>
                      </a:r>
                    </a:p>
                  </a:txBody>
                  <a:tcPr>
                    <a:solidFill>
                      <a:srgbClr val="1821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8FAFC"/>
                          </a:solidFill>
                        </a:defRPr>
                      </a:pPr>
                      <a:r>
                        <a:t>Evaluated closed US tools; no open-weights alignment fix</a:t>
                      </a:r>
                    </a:p>
                  </a:txBody>
                  <a:tcPr>
                    <a:solidFill>
                      <a:srgbClr val="18212F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8FAFC"/>
                          </a:solidFill>
                        </a:defRPr>
                      </a:pPr>
                      <a:r>
                        <a:t>Kim et al. (2026)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8FAFC"/>
                          </a:solidFill>
                        </a:defRPr>
                      </a:pPr>
                      <a:r>
                        <a:t>Comput. Chem. Eng.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8FAFC"/>
                          </a:solidFill>
                        </a:defRPr>
                      </a:pPr>
                      <a:r>
                        <a:t>Local SLM RAG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8FAFC"/>
                          </a:solidFill>
                        </a:defRPr>
                      </a:pPr>
                      <a:r>
                        <a:t>Local Qwen-4B on Ollama achieves 88% precision on safety norms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8FAFC"/>
                          </a:solidFill>
                        </a:defRPr>
                      </a:pPr>
                      <a:r>
                        <a:t>Single-agency; lacks temporal validity conflict resolution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8FAFC"/>
                          </a:solidFill>
                        </a:defRPr>
                      </a:pPr>
                      <a:r>
                        <a:t>Rafailov et al. (2023)</a:t>
                      </a:r>
                    </a:p>
                  </a:txBody>
                  <a:tcPr>
                    <a:solidFill>
                      <a:srgbClr val="1821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8FAFC"/>
                          </a:solidFill>
                        </a:defRPr>
                      </a:pPr>
                      <a:r>
                        <a:t>NeurIPS 2023</a:t>
                      </a:r>
                    </a:p>
                  </a:txBody>
                  <a:tcPr>
                    <a:solidFill>
                      <a:srgbClr val="1821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8FAFC"/>
                          </a:solidFill>
                        </a:defRPr>
                      </a:pPr>
                      <a:r>
                        <a:t>Direct Preference Opt.</a:t>
                      </a:r>
                    </a:p>
                  </a:txBody>
                  <a:tcPr>
                    <a:solidFill>
                      <a:srgbClr val="1821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8FAFC"/>
                          </a:solidFill>
                        </a:defRPr>
                      </a:pPr>
                      <a:r>
                        <a:t>DPO directly optimizes policy from preference pairs without reward models</a:t>
                      </a:r>
                    </a:p>
                  </a:txBody>
                  <a:tcPr>
                    <a:solidFill>
                      <a:srgbClr val="1821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8FAFC"/>
                          </a:solidFill>
                        </a:defRPr>
                      </a:pPr>
                      <a:r>
                        <a:t>Requires specialized domain pairs for epistemic refusal</a:t>
                      </a:r>
                    </a:p>
                  </a:txBody>
                  <a:tcPr>
                    <a:solidFill>
                      <a:srgbClr val="18212F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8FAFC"/>
                          </a:solidFill>
                        </a:defRPr>
                      </a:pPr>
                      <a:r>
                        <a:t>Hu et al. (2022)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8FAFC"/>
                          </a:solidFill>
                        </a:defRPr>
                      </a:pPr>
                      <a:r>
                        <a:t>ICLR 2022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8FAFC"/>
                          </a:solidFill>
                        </a:defRPr>
                      </a:pPr>
                      <a:r>
                        <a:t>LoRA / QLoRA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8FAFC"/>
                          </a:solidFill>
                        </a:defRPr>
                      </a:pPr>
                      <a:r>
                        <a:t>Freezing base weights &amp; training rank adapters matches full FT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8FAFC"/>
                          </a:solidFill>
                        </a:defRPr>
                      </a:pPr>
                      <a:r>
                        <a:t>Can underperform if adapter rank is insufficient for legal domain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705396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8FAFC"/>
                          </a:solidFill>
                        </a:defRPr>
                      </a:pPr>
                      <a:r>
                        <a:t>Rajveer et al. (2026)</a:t>
                      </a:r>
                    </a:p>
                  </a:txBody>
                  <a:tcPr>
                    <a:solidFill>
                      <a:srgbClr val="1821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8FAFC"/>
                          </a:solidFill>
                        </a:defRPr>
                      </a:pPr>
                      <a:r>
                        <a:t>arXiv:2604.19298</a:t>
                      </a:r>
                    </a:p>
                  </a:txBody>
                  <a:tcPr>
                    <a:solidFill>
                      <a:srgbClr val="1821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8FAFC"/>
                          </a:solidFill>
                        </a:defRPr>
                      </a:pPr>
                      <a:r>
                        <a:t>IndiaFinBench</a:t>
                      </a:r>
                    </a:p>
                  </a:txBody>
                  <a:tcPr>
                    <a:solidFill>
                      <a:srgbClr val="1821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8FAFC"/>
                          </a:solidFill>
                        </a:defRPr>
                      </a:pPr>
                      <a:r>
                        <a:t>Released first 406 QA benchmark on SEBI/RBI; 7B base models score ~76%</a:t>
                      </a:r>
                    </a:p>
                  </a:txBody>
                  <a:tcPr>
                    <a:solidFill>
                      <a:srgbClr val="1821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8FAFC"/>
                          </a:solidFill>
                        </a:defRPr>
                      </a:pPr>
                      <a:r>
                        <a:t>Evaluated base zero-shot models only; did not build a fine-tuned SLM</a:t>
                      </a:r>
                    </a:p>
                  </a:txBody>
                  <a:tcPr>
                    <a:solidFill>
                      <a:srgbClr val="18212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SYNTHESIS OF FINDINGS FROM 23 SCOPUS-INDEXED LITERATURE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Literature Synthesis Across Six Core Themes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3383280" cy="21945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38BDF8"/>
                </a:solidFill>
              </a:defRPr>
            </a:pPr>
            <a:r>
              <a:t>1. Architecture Evolution</a:t>
            </a:r>
          </a:p>
          <a:p>
            <a:pPr>
              <a:spcBef>
                <a:spcPts val="600"/>
              </a:spcBef>
              <a:defRPr sz="950">
                <a:solidFill>
                  <a:srgbClr val="F8FAFC"/>
                </a:solidFill>
              </a:defRPr>
            </a:pPr>
            <a:r>
              <a:t>Transition from cloud 175B+ models to compact 7B reasoning SLMs (DeepSeek-R1, Qwen-2.5) via QLoRA.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280160"/>
            <a:ext cx="3383280" cy="21945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34D399"/>
                </a:solidFill>
              </a:defRPr>
            </a:pPr>
            <a:r>
              <a:t>2. Corpus Diversity &amp; Scale</a:t>
            </a:r>
          </a:p>
          <a:p>
            <a:pPr>
              <a:spcBef>
                <a:spcPts val="600"/>
              </a:spcBef>
              <a:defRPr sz="950">
                <a:solidFill>
                  <a:srgbClr val="F8FAFC"/>
                </a:solidFill>
              </a:defRPr>
            </a:pPr>
            <a:r>
              <a:t>Court ruling datasets dominate (LegalBench, InLegalQA); multi-agency Indian circulars are completely unrepresented.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280160"/>
            <a:ext cx="3383280" cy="21945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BBF24"/>
                </a:solidFill>
              </a:defRPr>
            </a:pPr>
            <a:r>
              <a:t>3. Temporal &amp; Hybrid Retrieval</a:t>
            </a:r>
          </a:p>
          <a:p>
            <a:pPr>
              <a:spcBef>
                <a:spcPts val="600"/>
              </a:spcBef>
              <a:defRPr sz="950">
                <a:solidFill>
                  <a:srgbClr val="F8FAFC"/>
                </a:solidFill>
              </a:defRPr>
            </a:pPr>
            <a:r>
              <a:t>Combining dense vectors with BM25 via Reciprocal Rank Fusion ($k=60$) outperforms single retrievers.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749040"/>
            <a:ext cx="3383280" cy="21945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C084FC"/>
                </a:solidFill>
              </a:defRPr>
            </a:pPr>
            <a:r>
              <a:t>4. Evaluation Rigor &amp; Judges</a:t>
            </a:r>
          </a:p>
          <a:p>
            <a:pPr>
              <a:spcBef>
                <a:spcPts val="600"/>
              </a:spcBef>
              <a:defRPr sz="950">
                <a:solidFill>
                  <a:srgbClr val="F8FAFC"/>
                </a:solidFill>
              </a:defRPr>
            </a:pPr>
            <a:r>
              <a:t>Moving beyond BLEU/ROUGE to multi-dimensional rubrics (Compliance, Citation Grounding, Refusal) via 70B LLM judges.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3749040"/>
            <a:ext cx="3383280" cy="21945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38BDF8"/>
                </a:solidFill>
              </a:defRPr>
            </a:pPr>
            <a:r>
              <a:t>5. Epistemic Abstention</a:t>
            </a:r>
          </a:p>
          <a:p>
            <a:pPr>
              <a:spcBef>
                <a:spcPts val="600"/>
              </a:spcBef>
              <a:defRPr sz="950">
                <a:solidFill>
                  <a:srgbClr val="F8FAFC"/>
                </a:solidFill>
              </a:defRPr>
            </a:pPr>
            <a:r>
              <a:t>Standard SFT causes sycophancy. Negative preference DPO alignment is required to actively reject false premises.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3749040"/>
            <a:ext cx="3383280" cy="21945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34D399"/>
                </a:solidFill>
              </a:defRPr>
            </a:pPr>
            <a:r>
              <a:t>6. Privacy &amp; DPDP Compliance</a:t>
            </a:r>
          </a:p>
          <a:p>
            <a:pPr>
              <a:spcBef>
                <a:spcPts val="600"/>
              </a:spcBef>
              <a:defRPr sz="950">
                <a:solidFill>
                  <a:srgbClr val="F8FAFC"/>
                </a:solidFill>
              </a:defRPr>
            </a:pPr>
            <a:r>
              <a:t>DPDP Act 2023 mandates self-hosted, on-premises models to ensure complete financial data sovereignty.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MAPPING LITERATURE GAPS TO METHODOLOGICAL INNOVATIONS AND QUANTITATIVE IMPROVEMENTS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Research Gaps, Applied Fixes &amp; Measured Score Gains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280160"/>
          <a:ext cx="10728655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286000"/>
                <a:gridCol w="3474720"/>
                <a:gridCol w="2864815"/>
              </a:tblGrid>
              <a:tr h="705394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8FAFC"/>
                          </a:solidFill>
                        </a:defRPr>
                      </a:pPr>
                      <a:r>
                        <a:t>Identified Gap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8FAFC"/>
                          </a:solidFill>
                        </a:defRPr>
                      </a:pPr>
                      <a:r>
                        <a:t>Key Literature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8FAFC"/>
                          </a:solidFill>
                        </a:defRPr>
                      </a:pPr>
                      <a:r>
                        <a:t>Our Concrete Architectural Fix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8FAFC"/>
                          </a:solidFill>
                        </a:defRPr>
                      </a:pPr>
                      <a:r>
                        <a:t>Empirical Score Gain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F8FAFC"/>
                          </a:solidFill>
                        </a:defRPr>
                      </a:pPr>
                      <a:r>
                        <a:t>G1: RAG vs FT Dichotomy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F8FAFC"/>
                          </a:solidFill>
                        </a:defRPr>
                      </a:pPr>
                      <a:r>
                        <a:t>Ovadia 2024, Zhang 2024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F8FAFC"/>
                          </a:solidFill>
                        </a:defRPr>
                      </a:pPr>
                      <a:r>
                        <a:t>Two-Stage RAFT with Native &lt;think&gt; CoT (Golden + Distractors)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34D399"/>
                          </a:solidFill>
                        </a:defRPr>
                      </a:pPr>
                      <a:r>
                        <a:t>Core Compliance: 62.3% -&gt; 94.43%; IndiaFinBench Reg: 90.29%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F8FAFC"/>
                          </a:solidFill>
                        </a:defRPr>
                      </a:pPr>
                      <a:r>
                        <a:t>G2: Hallucination of Authority</a:t>
                      </a:r>
                    </a:p>
                  </a:txBody>
                  <a:tcPr>
                    <a:solidFill>
                      <a:srgbClr val="1821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F8FAFC"/>
                          </a:solidFill>
                        </a:defRPr>
                      </a:pPr>
                      <a:r>
                        <a:t>Magesh 2025, Pai &amp; Hsu 2026</a:t>
                      </a:r>
                    </a:p>
                  </a:txBody>
                  <a:tcPr>
                    <a:solidFill>
                      <a:srgbClr val="1821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F8FAFC"/>
                          </a:solidFill>
                        </a:defRPr>
                      </a:pPr>
                      <a:r>
                        <a:t>Verbatim Citation Verification + DPO Margin Loss Penalty</a:t>
                      </a:r>
                    </a:p>
                  </a:txBody>
                  <a:tcPr>
                    <a:solidFill>
                      <a:srgbClr val="1821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34D399"/>
                          </a:solidFill>
                        </a:defRPr>
                      </a:pPr>
                      <a:r>
                        <a:t>Citation Grounding: 51.6% -&gt; 99.17%; Phantom Citations: 0.0%</a:t>
                      </a:r>
                    </a:p>
                  </a:txBody>
                  <a:tcPr>
                    <a:solidFill>
                      <a:srgbClr val="18212F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F8FAFC"/>
                          </a:solidFill>
                        </a:defRPr>
                      </a:pPr>
                      <a:r>
                        <a:t>G3: Temporal Amnesia in RAG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F8FAFC"/>
                          </a:solidFill>
                        </a:defRPr>
                      </a:pPr>
                      <a:r>
                        <a:t>Kim 2026, Hindi 2025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F8FAFC"/>
                          </a:solidFill>
                        </a:defRPr>
                      </a:pPr>
                      <a:r>
                        <a:t>Temporal Metadata Tagging + Hybrid BM25/Dense RRF + Temporal DPO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34D399"/>
                          </a:solidFill>
                        </a:defRPr>
                      </a:pPr>
                      <a:r>
                        <a:t>Contradiction: 79.00%; Temporal Reasoning: 75.78%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F8FAFC"/>
                          </a:solidFill>
                        </a:defRPr>
                      </a:pPr>
                      <a:r>
                        <a:t>G4: Epistemic Inability to Abstain</a:t>
                      </a:r>
                    </a:p>
                  </a:txBody>
                  <a:tcPr>
                    <a:solidFill>
                      <a:srgbClr val="1821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F8FAFC"/>
                          </a:solidFill>
                        </a:defRPr>
                      </a:pPr>
                      <a:r>
                        <a:t>Magesh 2025, Kadavath 2022</a:t>
                      </a:r>
                    </a:p>
                  </a:txBody>
                  <a:tcPr>
                    <a:solidFill>
                      <a:srgbClr val="1821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F8FAFC"/>
                          </a:solidFill>
                        </a:defRPr>
                      </a:pPr>
                      <a:r>
                        <a:t>Negative Preference Alignment (C5 Refusal &amp; C6 Rejection DPO)</a:t>
                      </a:r>
                    </a:p>
                  </a:txBody>
                  <a:tcPr>
                    <a:solidFill>
                      <a:srgbClr val="1821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34D399"/>
                          </a:solidFill>
                        </a:defRPr>
                      </a:pPr>
                      <a:r>
                        <a:t>Refusal Quality: 0.0% -&gt; 82.50%; Premise Rejection: 0.0% -&gt; 58.00%</a:t>
                      </a:r>
                    </a:p>
                  </a:txBody>
                  <a:tcPr>
                    <a:solidFill>
                      <a:srgbClr val="18212F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F8FAFC"/>
                          </a:solidFill>
                        </a:defRPr>
                      </a:pPr>
                      <a:r>
                        <a:t>G5: Catastrophic Forgetting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F8FAFC"/>
                          </a:solidFill>
                        </a:defRPr>
                      </a:pPr>
                      <a:r>
                        <a:t>Luo 2023, Biderman 2024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F8FAFC"/>
                          </a:solidFill>
                        </a:defRPr>
                      </a:pPr>
                      <a:r>
                        <a:t>All-Linear QLoRA (Rank 64, Alpha 128) in 4-bit NF4 + ChatML Tokens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34D399"/>
                          </a:solidFill>
                        </a:defRPr>
                      </a:pPr>
                      <a:r>
                        <a:t>Structural Conformance: 100.0%; Zero syntax collapse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705396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F8FAFC"/>
                          </a:solidFill>
                        </a:defRPr>
                      </a:pPr>
                      <a:r>
                        <a:t>G6: Non-Western Regulatory Void</a:t>
                      </a:r>
                    </a:p>
                  </a:txBody>
                  <a:tcPr>
                    <a:solidFill>
                      <a:srgbClr val="1821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F8FAFC"/>
                          </a:solidFill>
                        </a:defRPr>
                      </a:pPr>
                      <a:r>
                        <a:t>Du 2025, Rajveer 2026</a:t>
                      </a:r>
                    </a:p>
                  </a:txBody>
                  <a:tcPr>
                    <a:solidFill>
                      <a:srgbClr val="1821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F8FAFC"/>
                          </a:solidFill>
                        </a:defRPr>
                      </a:pPr>
                      <a:r>
                        <a:t>Dual Evaluation: Internal G7 (300 Qs) + External IndiaFinBench (324 Qs)</a:t>
                      </a:r>
                    </a:p>
                  </a:txBody>
                  <a:tcPr>
                    <a:solidFill>
                      <a:srgbClr val="1821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34D399"/>
                          </a:solidFill>
                        </a:defRPr>
                      </a:pPr>
                      <a:r>
                        <a:t>Overall Accuracy: 80.98% (Beats Base 7B/8B LLMs by +3.4% to +5.0%)</a:t>
                      </a:r>
                    </a:p>
                  </a:txBody>
                  <a:tcPr>
                    <a:solidFill>
                      <a:srgbClr val="18212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INTERNAL G7 HARD SUITE (300 QUERIES) + EXTERNAL PUBLIC INDIAFINBENCH (324 QUESTIONS)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Dual Empirical Benchmark Results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280160"/>
          <a:ext cx="521208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1097280"/>
                <a:gridCol w="1097280"/>
                <a:gridCol w="1097280"/>
              </a:tblGrid>
              <a:tr h="987552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F8FAFC"/>
                          </a:solidFill>
                        </a:defRPr>
                      </a:pPr>
                      <a:r>
                        <a:t>Model (G7 Suite)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F8FAFC"/>
                          </a:solidFill>
                        </a:defRPr>
                      </a:pPr>
                      <a:r>
                        <a:t>Statutory (C1-C3)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F8FAFC"/>
                          </a:solidFill>
                        </a:defRPr>
                      </a:pPr>
                      <a:r>
                        <a:t>Citation Grounding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F8FAFC"/>
                          </a:solidFill>
                        </a:defRPr>
                      </a:pPr>
                      <a:r>
                        <a:t>LLM Judge Score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98755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F8FAFC"/>
                          </a:solidFill>
                        </a:defRPr>
                      </a:pPr>
                      <a:r>
                        <a:t>Base 3B (Llama-3.2)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F8FAFC"/>
                          </a:solidFill>
                        </a:defRPr>
                      </a:pPr>
                      <a:r>
                        <a:t>52.0%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F8FAFC"/>
                          </a:solidFill>
                        </a:defRPr>
                      </a:pPr>
                      <a:r>
                        <a:t>18.6%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F8FAFC"/>
                          </a:solidFill>
                        </a:defRPr>
                      </a:pPr>
                      <a:r>
                        <a:t>44.80%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98755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F8FAFC"/>
                          </a:solidFill>
                        </a:defRPr>
                      </a:pPr>
                      <a:r>
                        <a:t>RAFT Fine-Tuned 3B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F8FAFC"/>
                          </a:solidFill>
                        </a:defRPr>
                      </a:pPr>
                      <a:r>
                        <a:t>68.0%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F8FAFC"/>
                          </a:solidFill>
                        </a:defRPr>
                      </a:pPr>
                      <a:r>
                        <a:t>78.0%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F8FAFC"/>
                          </a:solidFill>
                        </a:defRPr>
                      </a:pPr>
                      <a:r>
                        <a:t>18.80%*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98755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F8FAFC"/>
                          </a:solidFill>
                        </a:defRPr>
                      </a:pPr>
                      <a:r>
                        <a:t>Stage 1 SFT 7B (R1)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F8FAFC"/>
                          </a:solidFill>
                        </a:defRPr>
                      </a:pPr>
                      <a:r>
                        <a:t>90.5%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F8FAFC"/>
                          </a:solidFill>
                        </a:defRPr>
                      </a:pPr>
                      <a:r>
                        <a:t>88.4%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F8FAFC"/>
                          </a:solidFill>
                        </a:defRPr>
                      </a:pPr>
                      <a:r>
                        <a:t>68.17%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987552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34D399"/>
                          </a:solidFill>
                        </a:defRPr>
                      </a:pPr>
                      <a:r>
                        <a:t>Stage 2 DPO 7B (Ours)</a:t>
                      </a:r>
                    </a:p>
                  </a:txBody>
                  <a:tcPr>
                    <a:solidFill>
                      <a:srgbClr val="1037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34D399"/>
                          </a:solidFill>
                        </a:defRPr>
                      </a:pPr>
                      <a:r>
                        <a:t>94.43%</a:t>
                      </a:r>
                    </a:p>
                  </a:txBody>
                  <a:tcPr>
                    <a:solidFill>
                      <a:srgbClr val="1037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34D399"/>
                          </a:solidFill>
                        </a:defRPr>
                      </a:pPr>
                      <a:r>
                        <a:t>99.17%</a:t>
                      </a:r>
                    </a:p>
                  </a:txBody>
                  <a:tcPr>
                    <a:solidFill>
                      <a:srgbClr val="1037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34D399"/>
                          </a:solidFill>
                        </a:defRPr>
                      </a:pPr>
                      <a:r>
                        <a:t>70.71% (100% Conf.)</a:t>
                      </a:r>
                    </a:p>
                  </a:txBody>
                  <a:tcPr>
                    <a:solidFill>
                      <a:srgbClr val="10372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217920" y="1280160"/>
          <a:ext cx="5242255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005840"/>
                <a:gridCol w="1097280"/>
                <a:gridCol w="1127455"/>
              </a:tblGrid>
              <a:tr h="61722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F8FAFC"/>
                          </a:solidFill>
                        </a:defRPr>
                      </a:pPr>
                      <a:r>
                        <a:t>Model (IndiaFinBench)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F8FAFC"/>
                          </a:solidFill>
                        </a:defRPr>
                      </a:pPr>
                      <a:r>
                        <a:t>Reg. Interp.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F8FAFC"/>
                          </a:solidFill>
                        </a:defRPr>
                      </a:pPr>
                      <a:r>
                        <a:t>Contradiction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F8FAFC"/>
                          </a:solidFill>
                        </a:defRPr>
                      </a:pPr>
                      <a:r>
                        <a:t>Overall Accuracy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F8FAFC"/>
                          </a:solidFill>
                        </a:defRPr>
                      </a:pPr>
                      <a:r>
                        <a:t>Gemini 2.5 Flash (Cloud)</a:t>
                      </a:r>
                    </a:p>
                  </a:txBody>
                  <a:tcPr>
                    <a:solidFill>
                      <a:srgbClr val="1821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F8FAFC"/>
                          </a:solidFill>
                        </a:defRPr>
                      </a:pPr>
                      <a:r>
                        <a:t>93.40%</a:t>
                      </a:r>
                    </a:p>
                  </a:txBody>
                  <a:tcPr>
                    <a:solidFill>
                      <a:srgbClr val="1821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F8FAFC"/>
                          </a:solidFill>
                        </a:defRPr>
                      </a:pPr>
                      <a:r>
                        <a:t>88.00%</a:t>
                      </a:r>
                    </a:p>
                  </a:txBody>
                  <a:tcPr>
                    <a:solidFill>
                      <a:srgbClr val="1821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F8FAFC"/>
                          </a:solidFill>
                        </a:defRPr>
                      </a:pPr>
                      <a:r>
                        <a:t>89.70% (Tier 1)</a:t>
                      </a:r>
                    </a:p>
                  </a:txBody>
                  <a:tcPr>
                    <a:solidFill>
                      <a:srgbClr val="18212F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F8FAFC"/>
                          </a:solidFill>
                        </a:defRPr>
                      </a:pPr>
                      <a:r>
                        <a:t>GPT-4o (Cloud API)</a:t>
                      </a:r>
                    </a:p>
                  </a:txBody>
                  <a:tcPr>
                    <a:solidFill>
                      <a:srgbClr val="1821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F8FAFC"/>
                          </a:solidFill>
                        </a:defRPr>
                      </a:pPr>
                      <a:r>
                        <a:t>92.10%</a:t>
                      </a:r>
                    </a:p>
                  </a:txBody>
                  <a:tcPr>
                    <a:solidFill>
                      <a:srgbClr val="1821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F8FAFC"/>
                          </a:solidFill>
                        </a:defRPr>
                      </a:pPr>
                      <a:r>
                        <a:t>86.00%</a:t>
                      </a:r>
                    </a:p>
                  </a:txBody>
                  <a:tcPr>
                    <a:solidFill>
                      <a:srgbClr val="1821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F8FAFC"/>
                          </a:solidFill>
                        </a:defRPr>
                      </a:pPr>
                      <a:r>
                        <a:t>88.20% (Tier 1)</a:t>
                      </a:r>
                    </a:p>
                  </a:txBody>
                  <a:tcPr>
                    <a:solidFill>
                      <a:srgbClr val="18212F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34D399"/>
                          </a:solidFill>
                        </a:defRPr>
                      </a:pPr>
                      <a:r>
                        <a:t>FinReg-SLM 7B (Ours)</a:t>
                      </a:r>
                    </a:p>
                  </a:txBody>
                  <a:tcPr>
                    <a:solidFill>
                      <a:srgbClr val="1037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34D399"/>
                          </a:solidFill>
                        </a:defRPr>
                      </a:pPr>
                      <a:r>
                        <a:t>90.29%</a:t>
                      </a:r>
                    </a:p>
                  </a:txBody>
                  <a:tcPr>
                    <a:solidFill>
                      <a:srgbClr val="1037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34D399"/>
                          </a:solidFill>
                        </a:defRPr>
                      </a:pPr>
                      <a:r>
                        <a:t>79.00%</a:t>
                      </a:r>
                    </a:p>
                  </a:txBody>
                  <a:tcPr>
                    <a:solidFill>
                      <a:srgbClr val="1037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34D399"/>
                          </a:solidFill>
                        </a:defRPr>
                      </a:pPr>
                      <a:r>
                        <a:t>80.98% (Top Tier 2)</a:t>
                      </a:r>
                    </a:p>
                  </a:txBody>
                  <a:tcPr>
                    <a:solidFill>
                      <a:srgbClr val="103723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F8FAFC"/>
                          </a:solidFill>
                        </a:defRPr>
                      </a:pPr>
                      <a:r>
                        <a:t>LLaMA-3-8B Base</a:t>
                      </a:r>
                    </a:p>
                  </a:txBody>
                  <a:tcPr>
                    <a:solidFill>
                      <a:srgbClr val="1821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F8FAFC"/>
                          </a:solidFill>
                        </a:defRPr>
                      </a:pPr>
                      <a:r>
                        <a:t>84.20%</a:t>
                      </a:r>
                    </a:p>
                  </a:txBody>
                  <a:tcPr>
                    <a:solidFill>
                      <a:srgbClr val="1821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F8FAFC"/>
                          </a:solidFill>
                        </a:defRPr>
                      </a:pPr>
                      <a:r>
                        <a:t>72.50%</a:t>
                      </a:r>
                    </a:p>
                  </a:txBody>
                  <a:tcPr>
                    <a:solidFill>
                      <a:srgbClr val="1821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F8FAFC"/>
                          </a:solidFill>
                        </a:defRPr>
                      </a:pPr>
                      <a:r>
                        <a:t>77.60% (Tier 2)</a:t>
                      </a:r>
                    </a:p>
                  </a:txBody>
                  <a:tcPr>
                    <a:solidFill>
                      <a:srgbClr val="18212F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F8FAFC"/>
                          </a:solidFill>
                        </a:defRPr>
                      </a:pPr>
                      <a:r>
                        <a:t>Mistral-7B-Instruct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F8FAFC"/>
                          </a:solidFill>
                        </a:defRPr>
                      </a:pPr>
                      <a:r>
                        <a:t>82.80%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F8FAFC"/>
                          </a:solidFill>
                        </a:defRPr>
                      </a:pPr>
                      <a:r>
                        <a:t>71.00%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F8FAFC"/>
                          </a:solidFill>
                        </a:defRPr>
                      </a:pPr>
                      <a:r>
                        <a:t>76.20% (Tier 2)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F8FAFC"/>
                          </a:solidFill>
                        </a:defRPr>
                      </a:pPr>
                      <a:r>
                        <a:t>Gemma 4 E4B</a:t>
                      </a:r>
                    </a:p>
                  </a:txBody>
                  <a:tcPr>
                    <a:solidFill>
                      <a:srgbClr val="1821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F8FAFC"/>
                          </a:solidFill>
                        </a:defRPr>
                      </a:pPr>
                      <a:r>
                        <a:t>76.50%</a:t>
                      </a:r>
                    </a:p>
                  </a:txBody>
                  <a:tcPr>
                    <a:solidFill>
                      <a:srgbClr val="1821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F8FAFC"/>
                          </a:solidFill>
                        </a:defRPr>
                      </a:pPr>
                      <a:r>
                        <a:t>65.00%</a:t>
                      </a:r>
                    </a:p>
                  </a:txBody>
                  <a:tcPr>
                    <a:solidFill>
                      <a:srgbClr val="1821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F8FAFC"/>
                          </a:solidFill>
                        </a:defRPr>
                      </a:pPr>
                      <a:r>
                        <a:t>70.40% (Tier 3)</a:t>
                      </a:r>
                    </a:p>
                  </a:txBody>
                  <a:tcPr>
                    <a:solidFill>
                      <a:srgbClr val="18212F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F8FAFC"/>
                          </a:solidFill>
                        </a:defRPr>
                      </a:pPr>
                      <a:r>
                        <a:t>Human Baseline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F8FAFC"/>
                          </a:solidFill>
                        </a:defRPr>
                      </a:pPr>
                      <a:r>
                        <a:t>74.00%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F8FAFC"/>
                          </a:solidFill>
                        </a:defRPr>
                      </a:pPr>
                      <a:r>
                        <a:t>66.00%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F8FAFC"/>
                          </a:solidFill>
                        </a:defRPr>
                      </a:pPr>
                      <a:r>
                        <a:t>69.00% (Baseline)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DATA BOUNDARIES, MODEL PIPELINE &amp; REGULATORY COVERAGE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Scope of Research &amp; System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5212080" cy="49377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BBF24"/>
                </a:solidFill>
              </a:defRPr>
            </a:pPr>
            <a:r>
              <a:t>5-Dimensional Scope Boundaries:</a:t>
            </a:r>
          </a:p>
          <a:p>
            <a:pPr>
              <a:spcBef>
                <a:spcPts val="600"/>
              </a:spcBef>
              <a:defRPr sz="950">
                <a:solidFill>
                  <a:srgbClr val="F8FAFC"/>
                </a:solidFill>
              </a:defRPr>
            </a:pPr>
            <a:r>
              <a:t>• Data Scope: 18,242 verified documents &amp; 25 Acts across 13 Indian regulators (435 MB SQLite WAL).</a:t>
            </a:r>
          </a:p>
          <a:p>
            <a:pPr>
              <a:spcBef>
                <a:spcPts val="600"/>
              </a:spcBef>
              <a:defRPr sz="950">
                <a:solidFill>
                  <a:srgbClr val="F8FAFC"/>
                </a:solidFill>
              </a:defRPr>
            </a:pPr>
            <a:r>
              <a:t>• Population Scope: Scheduled commercial banks, NBFCs, payment aggregators, and compliance auditors in India.</a:t>
            </a:r>
          </a:p>
          <a:p>
            <a:pPr>
              <a:spcBef>
                <a:spcPts val="600"/>
              </a:spcBef>
              <a:defRPr sz="950">
                <a:solidFill>
                  <a:srgbClr val="F8FAFC"/>
                </a:solidFill>
              </a:defRPr>
            </a:pPr>
            <a:r>
              <a:t>• Technical Scope: Small Reasoning Models (7B) via 4-bit QLoRA and Native DPO on consumer hardware.</a:t>
            </a:r>
          </a:p>
          <a:p>
            <a:pPr>
              <a:spcBef>
                <a:spcPts val="600"/>
              </a:spcBef>
              <a:defRPr sz="950">
                <a:solidFill>
                  <a:srgbClr val="F8FAFC"/>
                </a:solidFill>
              </a:defRPr>
            </a:pPr>
            <a:r>
              <a:t>• Evaluation Scope: 300 G7 queries + 324 IndiaFinBench test questions judged by LLaMA-3.3-70B.</a:t>
            </a:r>
          </a:p>
          <a:p>
            <a:pPr>
              <a:spcBef>
                <a:spcPts val="600"/>
              </a:spcBef>
              <a:defRPr sz="950">
                <a:solidFill>
                  <a:srgbClr val="F8FAFC"/>
                </a:solidFill>
              </a:defRPr>
            </a:pPr>
            <a:r>
              <a:t>• Application Scope: On-premises compliance verification and audit support under DPDP Act 2023.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280160"/>
            <a:ext cx="5242255" cy="49377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38BDF8"/>
                </a:solidFill>
              </a:defRPr>
            </a:pPr>
            <a:r>
              <a:t>End-to-End System Pipeline:</a:t>
            </a:r>
          </a:p>
          <a:p>
            <a:pPr>
              <a:spcBef>
                <a:spcPts val="600"/>
              </a:spcBef>
              <a:defRPr sz="950">
                <a:solidFill>
                  <a:srgbClr val="F8FAFC"/>
                </a:solidFill>
              </a:defRPr>
            </a:pPr>
            <a:r>
              <a:t>• Multi-Agency Corpus: 18,242 documents indexed with SHA-256 deduplication and date metadata.</a:t>
            </a:r>
          </a:p>
          <a:p>
            <a:pPr>
              <a:spcBef>
                <a:spcPts val="600"/>
              </a:spcBef>
              <a:defRPr sz="950">
                <a:solidFill>
                  <a:srgbClr val="F8FAFC"/>
                </a:solidFill>
              </a:defRPr>
            </a:pPr>
            <a:r>
              <a:t>• Hybrid Retrieval Engine: Dense BGE-small + BM25 Lexical + Reciprocal Rank Fusion ($k=60$) + Temporal Filter.</a:t>
            </a:r>
          </a:p>
          <a:p>
            <a:pPr>
              <a:spcBef>
                <a:spcPts val="600"/>
              </a:spcBef>
              <a:defRPr sz="950">
                <a:solidFill>
                  <a:srgbClr val="F8FAFC"/>
                </a:solidFill>
              </a:defRPr>
            </a:pPr>
            <a:r>
              <a:t>• Stage 1 Alignment (SFT): DeepSeek-R1-7B trained on 257 Golden CoT `&lt;think&gt;` traces with distractor filtering.</a:t>
            </a:r>
          </a:p>
          <a:p>
            <a:pPr>
              <a:spcBef>
                <a:spcPts val="600"/>
              </a:spcBef>
              <a:defRPr sz="950">
                <a:solidFill>
                  <a:srgbClr val="F8FAFC"/>
                </a:solidFill>
              </a:defRPr>
            </a:pPr>
            <a:r>
              <a:t>• Stage 2 Alignment (DPO): Fused-Kernel Native DPO trained on 257 preference pairs for citation grounding and refusal.</a:t>
            </a:r>
          </a:p>
          <a:p>
            <a:pPr>
              <a:spcBef>
                <a:spcPts val="600"/>
              </a:spcBef>
              <a:defRPr sz="950">
                <a:solidFill>
                  <a:srgbClr val="F8FAFC"/>
                </a:solidFill>
              </a:defRPr>
            </a:pPr>
            <a:r>
              <a:t>• Local 4-bit Deployment: 15.2 GB standalone FP16 weights executing inside 4.5 GB VRAM on single 8GB GPU.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SCALING BEYOND 7B, TOOL-INTEGRATED REASONING &amp; AUTONOMOUS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Future Scope, Scaling Roadmap &amp; Conclusion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5212080" cy="21945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38BDF8"/>
                </a:solidFill>
              </a:defRPr>
            </a:pPr>
            <a:r>
              <a:t>1. Scaling to 14B/32B/70B Foundation Models</a:t>
            </a:r>
          </a:p>
          <a:p>
            <a:pPr>
              <a:spcBef>
                <a:spcPts val="600"/>
              </a:spcBef>
              <a:defRPr sz="950">
                <a:solidFill>
                  <a:srgbClr val="F8FAFC"/>
                </a:solidFill>
              </a:defRPr>
            </a:pPr>
            <a:r>
              <a:t>With institutional GPU compute (A100/H100), fine-tuning DeepSeek-R1-Distill-14B/32B or LLaMA-3.3-70B will expand reasoning layer depth, projected to achieve &gt;91.5% accuracy and surpass proprietary cloud models.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280160"/>
            <a:ext cx="5212080" cy="21945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34D399"/>
                </a:solidFill>
              </a:defRPr>
            </a:pPr>
            <a:r>
              <a:t>2. Program-Aided Compliance (Python REPL)</a:t>
            </a:r>
          </a:p>
          <a:p>
            <a:pPr>
              <a:spcBef>
                <a:spcPts val="600"/>
              </a:spcBef>
              <a:defRPr sz="950">
                <a:solidFill>
                  <a:srgbClr val="F8FAFC"/>
                </a:solidFill>
              </a:defRPr>
            </a:pPr>
            <a:r>
              <a:t>Integrate an automated code-interpreter sandbox inside `&lt;think&gt;` CoT traces to execute multi-step capital adequacy and haircut compounding formulas, boosting numerical accuracy from 69.18% -&gt; 98.0%+.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749040"/>
            <a:ext cx="5212080" cy="21945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BBF24"/>
                </a:solidFill>
              </a:defRPr>
            </a:pPr>
            <a:r>
              <a:t>3. Online Group Relative Policy Optimization (GRPO)</a:t>
            </a:r>
          </a:p>
          <a:p>
            <a:pPr>
              <a:spcBef>
                <a:spcPts val="600"/>
              </a:spcBef>
              <a:defRPr sz="950">
                <a:solidFill>
                  <a:srgbClr val="F8FAFC"/>
                </a:solidFill>
              </a:defRPr>
            </a:pPr>
            <a:r>
              <a:t>Transition from static offline DPO to online DeepSeek-style GRPO with verifiable rule-based reward functions for statutory circular citations and mathematical verification.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749040"/>
            <a:ext cx="5212080" cy="21945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C084FC"/>
                </a:solidFill>
              </a:defRPr>
            </a:pPr>
            <a:r>
              <a:t>4. Autonomous 24/7 Regulatory Monitoring Daemon</a:t>
            </a:r>
          </a:p>
          <a:p>
            <a:pPr>
              <a:spcBef>
                <a:spcPts val="600"/>
              </a:spcBef>
              <a:defRPr sz="950">
                <a:solidFill>
                  <a:srgbClr val="F8FAFC"/>
                </a:solidFill>
              </a:defRPr>
            </a:pPr>
            <a:r>
              <a:t>Deploy background crawlers that automatically monitor daily gazettes from all 13 authorities, incrementally updating the SQLite WAL index and streaming real-time compliance alerts via SSE.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