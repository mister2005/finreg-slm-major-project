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384048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RESEARCH ECOSYSTEM — TUTORIAL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FinReg-SLM: Omni-Regulator AI</a:t>
            </a:r>
          </a:p>
          <a:p>
            <a:pPr>
              <a:spcBef>
                <a:spcPts val="1000"/>
              </a:spcBef>
              <a:defRPr sz="1600">
                <a:solidFill>
                  <a:srgbClr val="38BDF8"/>
                </a:solidFill>
              </a:defRPr>
            </a:pPr>
            <a:r>
              <a:t>A Two-Stage Aligned Reasoning Small Language Model (SFT + DPO) with Version-Aware Hybrid Retrieval for Multi-Agency Indian Financial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106984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Project Team &amp; Academic Details: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• Student Name: Varun Gupta | SAP ID: 60018230100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• Program: Final Year B.Tech. in Artificial Intelligence &amp; Data Science (Sem VII, AY 2026–27)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• Course: Research Ecosystem (DJS23ITELX12) | Department of AI &amp; DS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• Institution: SVKM's Dwarkadas J. Sanghvi College of Engineering (DJSCE), Mumbai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• Evaluation Benchmark: G7 Hard Suite (300 Queries) + IndiaFinBench (arXiv:2604.19298 — 324 Questions)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CONTEXT, COMPLIANCE STAKES &amp; TECHNICAL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Problem Definition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1. Multi-Agency Complexity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13 Statutory Authorities: RBI, SEBI, MCA, CBIC, CBDT, IBBI, EPFO, ESIC, IRDAI, PFRDA, MeitY, FIU-IND, IFSCA.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Over 18,242 circulars &amp; 25 Acts creating overlapping, cross-jurisdictional mandates.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Non-compliance results in heavy financial penalties, compounding interest, and statutory license cancellation.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2. Temporal Obsolescence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Frequent, non-linear regulatory amendments supersede prior statutory clauses.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Standard semantic search retrieves older, high-similarity text, presenting obsolete clauses as active law.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Requires explicit version-aware temporal filtering (`as_of_date` vs `effective_date`).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3. On-Premises Privacy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India's DPDP Act 2023 restricts sending internal banking logs or financial records to offshore cloud APIs.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Commercial cloud LLMs (GPT-4o, Claude) introduce severe compliance liability and recurring API overhead.</a:t>
            </a:r>
          </a:p>
          <a:p>
            <a:pPr>
              <a:spcBef>
                <a:spcPts val="800"/>
              </a:spcBef>
              <a:defRPr sz="1000">
                <a:solidFill>
                  <a:srgbClr val="F8FAFC"/>
                </a:solidFill>
              </a:defRPr>
            </a:pPr>
            <a:r>
              <a:t>• Demand for localized 7B Small Language Models running on consumer hardware (8GB VRAM) with zero data leakage.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REPRESENTATIVE PAPERS ACROSS THE 6 SYNTHESIS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Literature Review Matrix (Scopus &amp; IEEE Index)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2011680"/>
                <a:gridCol w="2560320"/>
                <a:gridCol w="2499055"/>
              </a:tblGrid>
              <a:tr h="70539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Authors &amp; Year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Venue / Journal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Method / 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Key Findings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Identified Research Gap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Ovadia et al. (2024)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EMNLP 2024 (Main)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RAG vs Fine-Tuning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RAG outperforms FT for knowledge injection; FT suffers from Reversal Curse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Did not test hybrid CoT reasoning on dense statutory law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Magesh et al. (2025)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J. Empir. Leg. Stud.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Legal RAG Audit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Commercial legal AI tools have 17%-33% hallucination rates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Evaluated closed US tools; no open-weights alignment fix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Kim et al. (2026)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Comput. Chem. Eng.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Local SLM RAG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Local Qwen-4B on Ollama achieves 88% precision on safety norms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Single-agency; lacks temporal validity conflict resolution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Rafailov et al. (2023)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NeurIPS 2023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Direct Preference Opt.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DPO directly optimizes policy from preference pairs without reward models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Requires specialized domain pairs for epistemic refusal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Hu et al. (2022)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ICLR 2022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LoRA / QLoRA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Freezing base weights &amp; training rank adapters matches full FT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Can underperform if adapter rank is insufficient for legal domain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Rajveer et al. (2026)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arXiv:2604.19298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IndiaFinBench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Released first 406 QA benchmark on SEBI/RBI; 7B base models score ~76%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Evaluated base zero-shot models only; did not build a fine-tuned SLM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SYNTHESIS OF FINDINGS FROM 23 SCOPUS-INDEXED LITERATURE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Literature Synthesis Across Six Core Themes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1. Architecture Evolution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Transition from cloud 175B+ models to compact 7B reasoning SLMs (DeepSeek-R1, Qwen-2.5) via QLoRA.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8016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2. Corpus Diversity &amp; Scale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Court ruling datasets dominate (LegalBench, InLegalQA); multi-agency Indian circulars are completely unrepresented.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28016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3. Temporal &amp; Hybrid Retrieval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Combining dense vectors with BM25 via Reciprocal Rank Fusion ($k=60$) outperforms single retrievers.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4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4. Evaluation Rigor &amp; Judges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Moving beyond BLEU/ROUGE to multi-dimensional rubrics (Compliance, Citation Grounding, Refusal) via 70B LLM judges.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74904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5. Epistemic Abstention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Standard SFT causes sycophancy. Negative preference DPO alignment is required to actively reject false premises.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749040"/>
            <a:ext cx="33832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6. Privacy &amp; DPDP Compliance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DPDP Act 2023 mandates self-hosted, on-premises models to ensure complete financial data sovereignty.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MAPPING LITERATURE GAPS TO METHODOLOGICAL INNOVATIONS AND QUANTITATIVE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Research Gaps, Applied Fixes &amp; Measured Score Gains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3474720"/>
                <a:gridCol w="2864815"/>
              </a:tblGrid>
              <a:tr h="705394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Identified Gap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Key Literature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Our Concrete Architectural Fix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Empirical Score Gain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G1: RAG vs FT Dichotomy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Ovadia 2024, Zhang 2024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Two-Stage RAFT with Native &lt;think&gt; CoT (Golden + Distractors)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Core Compliance: 62.3% -&gt; 94.43%; IndiaFinBench Reg: 90.29%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G2: Hallucination of Authority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Magesh 2025, Pai &amp; Hsu 2026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Verbatim Citation Verification + DPO Margin Loss Penalty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Citation Grounding: 51.6% -&gt; 99.17%; Phantom Citations: 0.0%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G3: Temporal Amnesia in RAG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Kim 2026, Hindi 2025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Temporal Metadata Tagging + Hybrid BM25/Dense RRF + Temporal DPO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Contradiction: 79.00%; Temporal Reasoning: 75.78%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G4: Epistemic Inability to Abstain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Magesh 2025, Kadavath 2022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Negative Preference Alignment (C5 Refusal &amp; C6 Rejection DPO)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Refusal Quality: 0.0% -&gt; 82.50%; Premise Rejection: 0.0% -&gt; 58.00%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G5: Catastrophic Forgetting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Luo 2023, Biderman 2024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All-Linear QLoRA (Rank 64, Alpha 128) in 4-bit NF4 + ChatML Tokens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Structural Conformance: 100.0%; Zero syntax collapse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G6: Non-Western Regulatory Void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Du 2025, Rajveer 2026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8FAFC"/>
                          </a:solidFill>
                        </a:defRPr>
                      </a:pPr>
                      <a:r>
                        <a:t>Dual Evaluation: Internal G7 (300 Qs) + External IndiaFinBench (324 Qs)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Overall Accuracy: 80.98% (Beats Base 7B/8B LLMs by +3.4% to +5.0%)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INTERNAL G7 HARD SUITE (300 QUERIES) + EXTERNAL PUBLIC INDIAFINBENCH (324 QUESTIONS)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Dual Empirical Benchmark 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52120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1097280"/>
                <a:gridCol w="1097280"/>
              </a:tblGrid>
              <a:tr h="987552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Model (G7 Suite)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Statutory (C1-C3)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Citation Grounding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LLM Judge 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Base 3B (Llama-3.2)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52.0%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18.6%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44.80%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RAFT Fine-Tuned 3B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68.0%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78.0%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18.80%*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Stage 1 SFT 7B (R1)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90.5%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88.4%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F8FAFC"/>
                          </a:solidFill>
                        </a:defRPr>
                      </a:pPr>
                      <a:r>
                        <a:t>68.17%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Stage 2 DPO 7B (Ours)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94.43%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99.17%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4D399"/>
                          </a:solidFill>
                        </a:defRPr>
                      </a:pPr>
                      <a:r>
                        <a:t>70.71% (100% Conf.)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280160"/>
          <a:ext cx="52422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97280"/>
                <a:gridCol w="1127455"/>
              </a:tblGrid>
              <a:tr h="6172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Model (IndiaFinBench)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Reg. Interp.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Contradiction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8FAFC"/>
                          </a:solidFill>
                        </a:defRPr>
                      </a:pPr>
                      <a:r>
                        <a:t>Overall Accuracy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Gemini 2.5 Flash (Cloud)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93.40%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89.70% (Tier 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GPT-4o (Cloud API)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92.10%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86.00%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88.20% (Tier 1)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34D399"/>
                          </a:solidFill>
                        </a:defRPr>
                      </a:pPr>
                      <a:r>
                        <a:t>FinReg-SLM 7B (Ours)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34D399"/>
                          </a:solidFill>
                        </a:defRPr>
                      </a:pPr>
                      <a:r>
                        <a:t>90.29%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34D399"/>
                          </a:solidFill>
                        </a:defRPr>
                      </a:pPr>
                      <a:r>
                        <a:t>79.00%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34D399"/>
                          </a:solidFill>
                        </a:defRPr>
                      </a:pPr>
                      <a:r>
                        <a:t>80.98% (Top Tier 2)</a:t>
                      </a:r>
                    </a:p>
                  </a:txBody>
                  <a:tcPr>
                    <a:solidFill>
                      <a:srgbClr val="103723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LLaMA-3-8B Base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84.20%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72.50%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77.60% (Tier 2)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Mistral-7B-Instruct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82.80%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76.20% (Tier 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Gemma 4 E4B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76.50%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65.00%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70.40% (Tier 3)</a:t>
                      </a:r>
                    </a:p>
                  </a:txBody>
                  <a:tcPr>
                    <a:solidFill>
                      <a:srgbClr val="18212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Human Baseline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74.00%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66.00%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F8FAFC"/>
                          </a:solidFill>
                        </a:defRPr>
                      </a:pPr>
                      <a:r>
                        <a:t>69.00% (Baseline)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DATA BOUNDARIES, MODEL PIPELINE &amp; REGULATORY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Scope of Research &amp;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5-Dimensional Scope Boundaries: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Data Scope: 18,242 verified documents &amp; 25 Acts across 13 Indian regulators (435 MB SQLite WAL).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Population Scope: Scheduled commercial banks, NBFCs, payment aggregators, and compliance auditors in India.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Technical Scope: Small Reasoning Models (7B) via 4-bit QLoRA and Native DPO on consumer hardware.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Evaluation Scope: 300 G7 queries + 324 IndiaFinBench test questions judged by LLaMA-3.3-70B.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Application Scope: On-premises compliance verification and audit support under DPDP Act 2023.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42255" cy="4937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End-to-End System Pipeline: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Multi-Agency Corpus: 18,242 documents indexed with SHA-256 deduplication and date metadata.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Hybrid Retrieval Engine: Dense BGE-small + BM25 Lexical + Reciprocal Rank Fusion ($k=60$) + Temporal Filter.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Stage 1 Alignment (SFT): DeepSeek-R1-7B trained on 257 Golden CoT `&lt;think&gt;` traces with distractor filtering.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Stage 2 Alignment (DPO): Fused-Kernel Native DPO trained on 257 preference pairs for citation grounding and refusal.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Local 4-bit Deployment: 15.2 GB standalone FP16 weights executing inside 4.5 GB VRAM on single 8GB GPU.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SCALING BEYOND 7B, TOOL-INTEGRATED REASONING &amp; AUTONOMOUS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Future Scope, Scaling Roadmap &amp;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1. Scaling to 14B/32B/70B Foundation Models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With institutional GPU compute (A100/H100), fine-tuning DeepSeek-R1-Distill-14B/32B or LLaMA-3.3-70B will expand reasoning layer depth, projected to achieve &gt;91.5% accuracy and surpass proprietary cloud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2. Program-Aided Compliance (Python REPL)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Integrate an automated code-interpreter sandbox inside `&lt;think&gt;` CoT traces to execute multi-step capital adequacy and haircut compounding formulas, boosting numerical accuracy from 69.18% -&gt; 98.0%+.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</a:defRPr>
            </a:pPr>
            <a:r>
              <a:t>3. Online Group Relative Policy Optimization (GRPO)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Transition from static offline DPO to online DeepSeek-style GRPO with verifiable rule-based reward functions for statutory circular citations and mathematical verification.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49040"/>
            <a:ext cx="521208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C084FC"/>
                </a:solidFill>
              </a:defRPr>
            </a:pPr>
            <a:r>
              <a:t>4. Autonomous 24/7 Regulatory Monitoring Daemon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Deploy background crawlers that automatically monitor daily gazettes from all 13 authorities, incrementally updating the SQLite WAL index and streaming real-time compliance alerts via SSE.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